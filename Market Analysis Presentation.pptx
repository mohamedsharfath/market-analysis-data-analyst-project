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9" autoAdjust="0"/>
    <p:restoredTop sz="96236" autoAdjust="0"/>
  </p:normalViewPr>
  <p:slideViewPr>
    <p:cSldViewPr snapToGrid="0">
      <p:cViewPr varScale="1">
        <p:scale>
          <a:sx n="85" d="100"/>
          <a:sy n="85" d="100"/>
        </p:scale>
        <p:origin x="83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11/11/2025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11/11/2025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lstStyle/>
          <a:p>
            <a:r>
              <a:rPr lang="en-US" dirty="0"/>
              <a:t>Marketing Analytics Portfolio Project</a:t>
            </a:r>
            <a:endParaRPr lang="nb-NO"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p:txBody>
          <a:bodyPr/>
          <a:lstStyle/>
          <a:p>
            <a:r>
              <a:rPr lang="nb-NO" dirty="0" err="1"/>
              <a:t>Overview</a:t>
            </a:r>
            <a:endParaRPr lang="nb-NO" dirty="0"/>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838200" y="1825625"/>
            <a:ext cx="3644423" cy="4351338"/>
          </a:xfrm>
        </p:spPr>
        <p:txBody>
          <a:bodyPr>
            <a:normAutofit fontScale="47500" lnSpcReduction="20000"/>
          </a:bodyPr>
          <a:lstStyle/>
          <a:p>
            <a:pPr>
              <a:lnSpc>
                <a:spcPct val="160000"/>
              </a:lnSpc>
            </a:pPr>
            <a:r>
              <a:rPr lang="en-US" sz="2000" b="1" dirty="0"/>
              <a:t>Decreased Conversion Rates: </a:t>
            </a:r>
            <a:r>
              <a:rPr lang="en-US" sz="2000" dirty="0"/>
              <a:t>The conversion rate demonstrated a strong rebound in December, reaching 10.2%, despite a notable dip to 5.0% in October.</a:t>
            </a:r>
          </a:p>
          <a:p>
            <a:pPr>
              <a:lnSpc>
                <a:spcPct val="160000"/>
              </a:lnSpc>
            </a:pPr>
            <a:r>
              <a:rPr lang="en-US" sz="2000" b="1" dirty="0"/>
              <a:t>Reduced Customer Engagement:</a:t>
            </a:r>
          </a:p>
          <a:p>
            <a:pPr lvl="1">
              <a:lnSpc>
                <a:spcPct val="160000"/>
              </a:lnSpc>
            </a:pPr>
            <a:r>
              <a:rPr lang="en-US" sz="2000" dirty="0"/>
              <a:t>There is a decline in overall social media engagement, with views dropping throughout the year.</a:t>
            </a:r>
          </a:p>
          <a:p>
            <a:pPr lvl="1">
              <a:lnSpc>
                <a:spcPct val="160000"/>
              </a:lnSpc>
            </a:pPr>
            <a:r>
              <a:rPr lang="en-US" sz="2000" dirty="0"/>
              <a:t>While clicks and likes are low compared to views, the click-through rate stands at 15.37%, meaning that engaged users are still interacting effectively.</a:t>
            </a:r>
          </a:p>
          <a:p>
            <a:pPr>
              <a:lnSpc>
                <a:spcPct val="160000"/>
              </a:lnSpc>
            </a:pPr>
            <a:r>
              <a:rPr lang="en-US" sz="2000" b="1" dirty="0"/>
              <a:t>Customer Feedback Analysis:</a:t>
            </a:r>
          </a:p>
          <a:p>
            <a:pPr lvl="1">
              <a:lnSpc>
                <a:spcPct val="160000"/>
              </a:lnSpc>
            </a:pPr>
            <a:r>
              <a:rPr lang="en-US" sz="2000" dirty="0"/>
              <a:t>Customer ratings have remained consistent, averaging around 3.7 throughout the year.</a:t>
            </a:r>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pic>
        <p:nvPicPr>
          <p:cNvPr id="9" name="Picture 8">
            <a:extLst>
              <a:ext uri="{FF2B5EF4-FFF2-40B4-BE49-F238E27FC236}">
                <a16:creationId xmlns:a16="http://schemas.microsoft.com/office/drawing/2014/main" id="{A4B5E61A-E8B6-7D8E-F737-6F1E0A482992}"/>
              </a:ext>
            </a:extLst>
          </p:cNvPr>
          <p:cNvPicPr>
            <a:picLocks noChangeAspect="1"/>
          </p:cNvPicPr>
          <p:nvPr/>
        </p:nvPicPr>
        <p:blipFill>
          <a:blip r:embed="rId2"/>
          <a:stretch>
            <a:fillRect/>
          </a:stretch>
        </p:blipFill>
        <p:spPr>
          <a:xfrm>
            <a:off x="4593519" y="1823141"/>
            <a:ext cx="7277236" cy="4351337"/>
          </a:xfrm>
          <a:prstGeom prst="rect">
            <a:avLst/>
          </a:prstGeom>
        </p:spPr>
      </p:pic>
      <p:cxnSp>
        <p:nvCxnSpPr>
          <p:cNvPr id="11" name="Straight Arrow Connector 10">
            <a:extLst>
              <a:ext uri="{FF2B5EF4-FFF2-40B4-BE49-F238E27FC236}">
                <a16:creationId xmlns:a16="http://schemas.microsoft.com/office/drawing/2014/main" id="{EB0B3192-656E-0734-EE42-F4DBBB67D9E3}"/>
              </a:ext>
            </a:extLst>
          </p:cNvPr>
          <p:cNvCxnSpPr>
            <a:cxnSpLocks/>
          </p:cNvCxnSpPr>
          <p:nvPr/>
        </p:nvCxnSpPr>
        <p:spPr>
          <a:xfrm>
            <a:off x="10237155" y="342900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DB459B85-8FF8-3F68-F083-4F22D9FF99A0}"/>
              </a:ext>
            </a:extLst>
          </p:cNvPr>
          <p:cNvSpPr/>
          <p:nvPr/>
        </p:nvSpPr>
        <p:spPr>
          <a:xfrm>
            <a:off x="7487080" y="2021305"/>
            <a:ext cx="1265034" cy="8593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Rectangle 13">
            <a:extLst>
              <a:ext uri="{FF2B5EF4-FFF2-40B4-BE49-F238E27FC236}">
                <a16:creationId xmlns:a16="http://schemas.microsoft.com/office/drawing/2014/main" id="{622A03A8-9FE6-D649-8831-F488E4DEDF7E}"/>
              </a:ext>
            </a:extLst>
          </p:cNvPr>
          <p:cNvSpPr/>
          <p:nvPr/>
        </p:nvSpPr>
        <p:spPr>
          <a:xfrm>
            <a:off x="7177696" y="5142641"/>
            <a:ext cx="1485041" cy="8593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dirty="0" err="1"/>
              <a:t>Decreased</a:t>
            </a:r>
            <a:r>
              <a:rPr lang="nb-NO" dirty="0"/>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p:txBody>
          <a:bodyPr>
            <a:normAutofit fontScale="400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pPr>
              <a:lnSpc>
                <a:spcPct val="170000"/>
              </a:lnSpc>
            </a:pPr>
            <a:r>
              <a:rPr lang="en-US" b="1" dirty="0"/>
              <a:t>Lowest Conversion Month:</a:t>
            </a:r>
          </a:p>
          <a:p>
            <a:pPr lvl="1">
              <a:lnSpc>
                <a:spcPct val="170000"/>
              </a:lnSpc>
            </a:pPr>
            <a:r>
              <a:rPr lang="en-US" dirty="0"/>
              <a:t>May experienced the lowest overall conversion rate at 4.3%, with no products standing out significantly in terms of conversion. This indicates a potential need to revisit marketing strategies or promotions during this period to boost performance.</a:t>
            </a:r>
          </a:p>
          <a:p>
            <a:pPr>
              <a:lnSpc>
                <a:spcPct val="170000"/>
              </a:lnSpc>
            </a:pPr>
            <a:r>
              <a:rPr lang="en-US" b="1" dirty="0"/>
              <a:t>Highest Conversion Rates:</a:t>
            </a:r>
          </a:p>
          <a:p>
            <a:pPr lvl="1">
              <a:lnSpc>
                <a:spcPct val="170000"/>
              </a:lnSpc>
            </a:pPr>
            <a:r>
              <a:rPr lang="en-US" dirty="0"/>
              <a:t>January recorded the highest overall conversion rate at 18.5%, driven significantly by the Ski Boots with a remarkable 150% conversion. This indicates a strong start to the year, likely fueled by seasonal demand and effective marketing strategies.</a:t>
            </a:r>
          </a:p>
        </p:txBody>
      </p:sp>
      <p:pic>
        <p:nvPicPr>
          <p:cNvPr id="6" name="Picture 5">
            <a:extLst>
              <a:ext uri="{FF2B5EF4-FFF2-40B4-BE49-F238E27FC236}">
                <a16:creationId xmlns:a16="http://schemas.microsoft.com/office/drawing/2014/main" id="{A50E1FC3-538B-418A-C72B-4CCF4A773035}"/>
              </a:ext>
            </a:extLst>
          </p:cNvPr>
          <p:cNvPicPr>
            <a:picLocks noChangeAspect="1"/>
          </p:cNvPicPr>
          <p:nvPr/>
        </p:nvPicPr>
        <p:blipFill rotWithShape="1">
          <a:blip r:embed="rId2"/>
          <a:srcRect r="8839" b="17075"/>
          <a:stretch/>
        </p:blipFill>
        <p:spPr>
          <a:xfrm>
            <a:off x="6172201" y="2455959"/>
            <a:ext cx="5696559" cy="3154193"/>
          </a:xfrm>
          <a:prstGeom prst="rect">
            <a:avLst/>
          </a:prstGeom>
        </p:spPr>
      </p:pic>
      <p:sp>
        <p:nvSpPr>
          <p:cNvPr id="7" name="Rectangle 6">
            <a:extLst>
              <a:ext uri="{FF2B5EF4-FFF2-40B4-BE49-F238E27FC236}">
                <a16:creationId xmlns:a16="http://schemas.microsoft.com/office/drawing/2014/main" id="{9AE336E2-BFE9-301A-AFA2-2180EEC07102}"/>
              </a:ext>
            </a:extLst>
          </p:cNvPr>
          <p:cNvSpPr/>
          <p:nvPr/>
        </p:nvSpPr>
        <p:spPr>
          <a:xfrm>
            <a:off x="8413664" y="2455958"/>
            <a:ext cx="398762" cy="32160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a16="http://schemas.microsoft.com/office/drawing/2014/main" id="{2F76FB0A-6CB5-47EB-50C2-6A2B95E1B209}"/>
              </a:ext>
            </a:extLst>
          </p:cNvPr>
          <p:cNvSpPr/>
          <p:nvPr/>
        </p:nvSpPr>
        <p:spPr>
          <a:xfrm>
            <a:off x="6919820" y="2455958"/>
            <a:ext cx="537412" cy="3216071"/>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p:txBody>
          <a:bodyPr>
            <a:normAutofit fontScale="55000" lnSpcReduction="20000"/>
          </a:bodyPr>
          <a:lstStyle/>
          <a:p>
            <a:pPr>
              <a:lnSpc>
                <a:spcPct val="170000"/>
              </a:lnSpc>
            </a:pPr>
            <a:r>
              <a:rPr lang="en-US" b="1" dirty="0"/>
              <a:t>Declining Views:</a:t>
            </a:r>
          </a:p>
          <a:p>
            <a:pPr lvl="1">
              <a:lnSpc>
                <a:spcPct val="170000"/>
              </a:lnSpc>
            </a:pPr>
            <a:r>
              <a:rPr lang="en-US" dirty="0"/>
              <a:t>Views peaked in February and July but declined from August and on, indicating reduced audience engagement in the later half of the year.</a:t>
            </a:r>
          </a:p>
          <a:p>
            <a:pPr>
              <a:lnSpc>
                <a:spcPct val="170000"/>
              </a:lnSpc>
            </a:pPr>
            <a:r>
              <a:rPr lang="en-US" b="1" dirty="0"/>
              <a:t>Low Interaction Rates:</a:t>
            </a:r>
          </a:p>
          <a:p>
            <a:pPr lvl="1">
              <a:lnSpc>
                <a:spcPct val="170000"/>
              </a:lnSpc>
            </a:pPr>
            <a:r>
              <a:rPr lang="en-US" dirty="0"/>
              <a:t>Clicks and likes remained consistently low compared to views, suggesting the need for more engaging content or stronger calls to action.</a:t>
            </a:r>
          </a:p>
          <a:p>
            <a:pPr>
              <a:lnSpc>
                <a:spcPct val="170000"/>
              </a:lnSpc>
            </a:pPr>
            <a:r>
              <a:rPr lang="en-US" b="1" dirty="0"/>
              <a:t>Content Type Performance:</a:t>
            </a:r>
          </a:p>
          <a:p>
            <a:pPr lvl="1">
              <a:lnSpc>
                <a:spcPct val="170000"/>
              </a:lnSpc>
            </a:pPr>
            <a:r>
              <a:rPr lang="en-US" dirty="0"/>
              <a:t>Blog content drove the most views, especially in April and July, while social media and video content maintained steady but slightly lower engagement.</a:t>
            </a:r>
            <a:endParaRPr lang="nb-NO" dirty="0"/>
          </a:p>
        </p:txBody>
      </p:sp>
      <p:pic>
        <p:nvPicPr>
          <p:cNvPr id="6" name="Picture 5">
            <a:extLst>
              <a:ext uri="{FF2B5EF4-FFF2-40B4-BE49-F238E27FC236}">
                <a16:creationId xmlns:a16="http://schemas.microsoft.com/office/drawing/2014/main" id="{AA51A6C3-8D7F-42D5-A580-31B5CCF978A2}"/>
              </a:ext>
            </a:extLst>
          </p:cNvPr>
          <p:cNvPicPr>
            <a:picLocks noChangeAspect="1"/>
          </p:cNvPicPr>
          <p:nvPr/>
        </p:nvPicPr>
        <p:blipFill>
          <a:blip r:embed="rId2"/>
          <a:stretch>
            <a:fillRect/>
          </a:stretch>
        </p:blipFill>
        <p:spPr>
          <a:xfrm>
            <a:off x="6771868" y="1690688"/>
            <a:ext cx="3685539" cy="2213660"/>
          </a:xfrm>
          <a:prstGeom prst="rect">
            <a:avLst/>
          </a:prstGeom>
        </p:spPr>
      </p:pic>
      <p:pic>
        <p:nvPicPr>
          <p:cNvPr id="8" name="Picture 7">
            <a:extLst>
              <a:ext uri="{FF2B5EF4-FFF2-40B4-BE49-F238E27FC236}">
                <a16:creationId xmlns:a16="http://schemas.microsoft.com/office/drawing/2014/main" id="{E1183400-4357-3720-F656-7CDAD9955152}"/>
              </a:ext>
            </a:extLst>
          </p:cNvPr>
          <p:cNvPicPr>
            <a:picLocks noChangeAspect="1"/>
          </p:cNvPicPr>
          <p:nvPr/>
        </p:nvPicPr>
        <p:blipFill>
          <a:blip r:embed="rId3"/>
          <a:stretch>
            <a:fillRect/>
          </a:stretch>
        </p:blipFill>
        <p:spPr>
          <a:xfrm>
            <a:off x="6740384" y="4073521"/>
            <a:ext cx="3748506" cy="2312780"/>
          </a:xfrm>
          <a:prstGeom prst="rect">
            <a:avLst/>
          </a:prstGeom>
        </p:spPr>
      </p:pic>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614637" y="236388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40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b="1" dirty="0"/>
              <a:t>Sentiment Analysis:</a:t>
            </a:r>
          </a:p>
          <a:p>
            <a:pPr lvl="1">
              <a:lnSpc>
                <a:spcPct val="170000"/>
              </a:lnSpc>
            </a:pPr>
            <a:r>
              <a:rPr lang="en-US"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6" name="Picture 5">
            <a:extLst>
              <a:ext uri="{FF2B5EF4-FFF2-40B4-BE49-F238E27FC236}">
                <a16:creationId xmlns:a16="http://schemas.microsoft.com/office/drawing/2014/main" id="{6CED0410-4F2A-A9C9-D932-F9B967B23698}"/>
              </a:ext>
            </a:extLst>
          </p:cNvPr>
          <p:cNvPicPr>
            <a:picLocks noChangeAspect="1"/>
          </p:cNvPicPr>
          <p:nvPr/>
        </p:nvPicPr>
        <p:blipFill>
          <a:blip r:embed="rId2"/>
          <a:stretch>
            <a:fillRect/>
          </a:stretch>
        </p:blipFill>
        <p:spPr>
          <a:xfrm>
            <a:off x="7298926" y="1792673"/>
            <a:ext cx="3035427" cy="2120733"/>
          </a:xfrm>
          <a:prstGeom prst="rect">
            <a:avLst/>
          </a:prstGeom>
        </p:spPr>
      </p:pic>
      <p:pic>
        <p:nvPicPr>
          <p:cNvPr id="8" name="Picture 7">
            <a:extLst>
              <a:ext uri="{FF2B5EF4-FFF2-40B4-BE49-F238E27FC236}">
                <a16:creationId xmlns:a16="http://schemas.microsoft.com/office/drawing/2014/main" id="{8235AC8E-B5B5-1F1D-B78B-959EA72187AF}"/>
              </a:ext>
            </a:extLst>
          </p:cNvPr>
          <p:cNvPicPr>
            <a:picLocks noChangeAspect="1"/>
          </p:cNvPicPr>
          <p:nvPr/>
        </p:nvPicPr>
        <p:blipFill>
          <a:blip r:embed="rId3"/>
          <a:stretch>
            <a:fillRect/>
          </a:stretch>
        </p:blipFill>
        <p:spPr>
          <a:xfrm>
            <a:off x="7254729" y="4051431"/>
            <a:ext cx="3123819" cy="2161571"/>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p:txBody>
          <a:bodyPr/>
          <a:lstStyle/>
          <a:p>
            <a:r>
              <a:rPr lang="nb-NO" dirty="0"/>
              <a:t>Goals &amp; </a:t>
            </a:r>
            <a:r>
              <a:rPr lang="nb-NO" dirty="0" err="1"/>
              <a:t>Actions</a:t>
            </a:r>
            <a:endParaRPr lang="nb-NO" dirty="0"/>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p:txBody>
          <a:bodyPr/>
          <a:lstStyle/>
          <a:p>
            <a:r>
              <a:rPr lang="en-US" dirty="0"/>
              <a:t>Goals</a:t>
            </a:r>
            <a:endParaRPr lang="nb-NO" dirty="0"/>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839788" y="2505075"/>
            <a:ext cx="5157787" cy="3987800"/>
          </a:xfrm>
        </p:spPr>
        <p:txBody>
          <a:bodyPr>
            <a:normAutofit fontScale="400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172200" y="2505075"/>
            <a:ext cx="5183188" cy="4211984"/>
          </a:xfrm>
        </p:spPr>
        <p:txBody>
          <a:bodyPr>
            <a:noAutofit/>
          </a:bodyPr>
          <a:lstStyle/>
          <a:p>
            <a:pPr>
              <a:lnSpc>
                <a:spcPct val="120000"/>
              </a:lnSpc>
            </a:pPr>
            <a:r>
              <a:rPr lang="nb-NO" sz="900" b="1" dirty="0" err="1"/>
              <a:t>Increase</a:t>
            </a:r>
            <a:r>
              <a:rPr lang="nb-NO" sz="900" b="1" dirty="0"/>
              <a:t> Conversion Rates:</a:t>
            </a:r>
          </a:p>
          <a:p>
            <a:pPr lvl="1">
              <a:lnSpc>
                <a:spcPct val="120000"/>
              </a:lnSpc>
            </a:pPr>
            <a:r>
              <a:rPr lang="en-US" sz="900" u="sng" dirty="0"/>
              <a:t>Target High-Performing Product Categories</a:t>
            </a:r>
            <a:r>
              <a:rPr lang="en-US" sz="900" dirty="0"/>
              <a:t>: 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dirty="0"/>
          </a:p>
          <a:p>
            <a:pPr>
              <a:lnSpc>
                <a:spcPct val="120000"/>
              </a:lnSpc>
            </a:pPr>
            <a:r>
              <a:rPr lang="nb-NO" sz="900" b="1" dirty="0" err="1"/>
              <a:t>Improve</a:t>
            </a:r>
            <a:r>
              <a:rPr lang="nb-NO" sz="900" b="1" dirty="0"/>
              <a:t> </a:t>
            </a:r>
            <a:r>
              <a:rPr lang="nb-NO" sz="900" b="1" dirty="0" err="1"/>
              <a:t>Customer</a:t>
            </a:r>
            <a:r>
              <a:rPr lang="nb-NO" sz="900" b="1" dirty="0"/>
              <a:t> Feedback Scores:</a:t>
            </a:r>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109</TotalTime>
  <Words>787</Words>
  <Application>Microsoft Office PowerPoint</Application>
  <PresentationFormat>Widescreen</PresentationFormat>
  <Paragraphs>51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Data Presentation</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mohamed sharfath</cp:lastModifiedBy>
  <cp:revision>2</cp:revision>
  <dcterms:created xsi:type="dcterms:W3CDTF">2024-09-03T15:16:05Z</dcterms:created>
  <dcterms:modified xsi:type="dcterms:W3CDTF">2025-11-11T09:44:10Z</dcterms:modified>
</cp:coreProperties>
</file>